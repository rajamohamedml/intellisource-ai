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72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7931154" y="4246568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4213" y="402269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70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70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1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11374905" y="1197789"/>
            <a:ext cx="132763" cy="171288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6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11578105" y="1350189"/>
            <a:ext cx="132763" cy="171288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11115581" y="1453352"/>
            <a:ext cx="132763" cy="171288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4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80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80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80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4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Calibri"/>
              </a:rPr>
              <a:t>IntelliSource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smtClean="0">
                <a:solidFill>
                  <a:srgbClr val="FFFFFF"/>
                </a:solidFill>
                <a:latin typeface="Calibri"/>
              </a:rPr>
              <a:t>AI</a:t>
            </a:r>
            <a:endParaRPr sz="3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91842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4A6B8A"/>
                </a:solidFill>
                <a:latin typeface="Calibri"/>
              </a:rPr>
              <a:t>"To derive Intelligence from the Source Code"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62869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E8E8E8"/>
                </a:solidFill>
                <a:latin typeface="Calibri"/>
              </a:rPr>
              <a:t>Enterprise Codebase Intelligence &amp; </a:t>
            </a:r>
            <a:r>
              <a:rPr sz="2400" b="0" i="0" dirty="0">
                <a:solidFill>
                  <a:srgbClr val="E8E8E8"/>
                </a:solidFill>
                <a:latin typeface="Calibri"/>
              </a:rPr>
              <a:t>Automated</a:t>
            </a:r>
            <a:r>
              <a:rPr sz="2000" b="0" i="0" dirty="0">
                <a:solidFill>
                  <a:srgbClr val="E8E8E8"/>
                </a:solidFill>
                <a:latin typeface="Calibri"/>
              </a:rPr>
              <a:t> Architectural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An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Enterprise Codebase Intelligence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platform — a building block for autonomous software engineering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Reverse-engineers unfamiliar repos into human-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and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machine-readable documentation, in minutes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Structural engine: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Java/Spring Boot today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Python, </a:t>
            </a:r>
            <a:r>
              <a:rPr sz="2400" b="0" i="0" dirty="0" err="1">
                <a:solidFill>
                  <a:srgbClr val="3A3A3A"/>
                </a:solidFill>
                <a:latin typeface="Calibri"/>
              </a:rPr>
              <a:t>TypeScript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, JavaScript on the roadmap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A ready-made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context layer for AI coding agents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, built for engineering leaders, consulting firms, and AI automation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The Problem: Codebase Blindness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Key-person dependency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knowledge trapped with a few engineers; it leaves when they do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The onboarding tax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new hires burn days skim-reading files just to find basic connections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Hidden architectural risk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brittle, high-churn "hotspots" stay invisible until they break production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The AI token bill trap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dumping raw repos into an LLM is slow, expensive, and produces hallucinated structure leadership can't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The Solution: Structure-First, AI-Second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2"/>
            <a:ext cx="1115568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 i="0" dirty="0">
                <a:solidFill>
                  <a:srgbClr val="3A3A3A"/>
                </a:solidFill>
                <a:latin typeface="Calibri"/>
              </a:rPr>
              <a:t>Technical Engine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(deterministic, free) Static parsing → REST endpoints, complexity, security findings, dependency graph, </a:t>
            </a:r>
            <a:r>
              <a:rPr sz="2400" b="0" i="0" dirty="0" err="1">
                <a:solidFill>
                  <a:srgbClr val="3A3A3A"/>
                </a:solidFill>
                <a:latin typeface="Calibri"/>
              </a:rPr>
              <a:t>git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-churn — zero API cost, zero hallucination</a:t>
            </a:r>
          </a:p>
          <a:p>
            <a:pPr>
              <a:spcAft>
                <a:spcPts val="1000"/>
              </a:spcAft>
            </a:pPr>
            <a:r>
              <a:rPr sz="2400" b="1" i="0" dirty="0">
                <a:solidFill>
                  <a:srgbClr val="3A3A3A"/>
                </a:solidFill>
                <a:latin typeface="Calibri"/>
              </a:rPr>
              <a:t>AI Engine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(contextual, cheap) LLM called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only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for semantic synthesis — turning code into plain business meaning — on condensed structure, never raw source, with aggressive caching so no class is ever explained twice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1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Verified Cost Efficiency — Real Run, Real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3"/>
            <a:ext cx="111556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3A3A3A"/>
                </a:solidFill>
                <a:latin typeface="Calibri"/>
              </a:rPr>
              <a:t>apolloconfig/apollo</a:t>
            </a:r>
            <a:r>
              <a:rPr sz="1900" b="0" i="0">
                <a:solidFill>
                  <a:srgbClr val="3A3A3A"/>
                </a:solidFill>
                <a:latin typeface="Calibri"/>
              </a:rPr>
              <a:t> — a real production Java codebase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583063"/>
              </p:ext>
            </p:extLst>
          </p:nvPr>
        </p:nvGraphicFramePr>
        <p:xfrm>
          <a:off x="502920" y="1937004"/>
          <a:ext cx="8778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411480"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4A6B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Files / Classes analyzed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200 files / 201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Lines of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22,319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Served from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169 / 201 classes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3A3A3A"/>
                          </a:solidFill>
                          <a:latin typeface="Calibri"/>
                        </a:rPr>
                        <a:t>~$0.10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Token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i="0">
                          <a:solidFill>
                            <a:srgbClr val="3A3A3A"/>
                          </a:solidFill>
                          <a:latin typeface="Calibri"/>
                        </a:rPr>
                        <a:t>71.7%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2000" b="0" i="0">
                          <a:solidFill>
                            <a:srgbClr val="3A3A3A"/>
                          </a:solidFill>
                          <a:latin typeface="Calibri"/>
                        </a:rPr>
                        <a:t>Security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15 High / 0 Medium / 1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045967"/>
            <a:ext cx="111556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 dirty="0">
                <a:solidFill>
                  <a:srgbClr val="3A3A3A"/>
                </a:solidFill>
                <a:latin typeface="Calibri"/>
              </a:rPr>
              <a:t>Not a projection — this is one reproducible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Quantified ROI vs. Manual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Every run converts its LOC count into a manual-review comparison, at a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disclosed, configurable rate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(default: 200 LOC/hour @ $75/hour):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111.6 analyst-hours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saved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~$8,370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saved vs. manual review at that pace</a:t>
            </a:r>
          </a:p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A number engineering leadership can cite directly — not an estimate buried in a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De-Risked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Dependency-aware risk mapping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ranks classes by "fan-in" to surface the highest blast-radius components before you touch them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Churn-weighted hotspots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combines commit frequency with complexity to flag code that's unstable </a:t>
            </a:r>
            <a:r>
              <a:rPr sz="2400" b="0" i="1" dirty="0">
                <a:solidFill>
                  <a:srgbClr val="3A3A3A"/>
                </a:solidFill>
                <a:latin typeface="Calibri"/>
              </a:rPr>
              <a:t>and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hard to change safely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Guaranteed data integrity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architecture, complexity, and dependencies are all </a:t>
            </a:r>
            <a:r>
              <a:rPr sz="2400" b="0" i="1" dirty="0">
                <a:solidFill>
                  <a:srgbClr val="3A3A3A"/>
                </a:solidFill>
                <a:latin typeface="Calibri"/>
              </a:rPr>
              <a:t>parsed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, never guessed by an LLM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Any class the model can't describe is marked </a:t>
            </a:r>
            <a:r>
              <a:rPr sz="2400" b="0" i="0" dirty="0">
                <a:solidFill>
                  <a:srgbClr val="3A3A3A"/>
                </a:solidFill>
                <a:latin typeface="Consolas"/>
              </a:rPr>
              <a:t>"unavailable"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never silently fabricated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How the Token Reduction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Raw </a:t>
            </a:r>
            <a:r>
              <a:rPr sz="2400" b="0" i="0" dirty="0">
                <a:solidFill>
                  <a:srgbClr val="3A3A3A"/>
                </a:solidFill>
                <a:latin typeface="Consolas"/>
              </a:rPr>
              <a:t>.java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source → AST parse → strip bodies, imports, boilerplate → keep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signatures + </a:t>
            </a:r>
            <a:r>
              <a:rPr sz="2400" b="1" i="0" dirty="0" err="1">
                <a:solidFill>
                  <a:srgbClr val="3A3A3A"/>
                </a:solidFill>
                <a:latin typeface="Calibri"/>
              </a:rPr>
              <a:t>Javadoc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 + annotations + complexity flags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→ that's what the LLM sees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The model only needs to know what a class </a:t>
            </a:r>
            <a:r>
              <a:rPr sz="2400" b="0" i="1" dirty="0">
                <a:solidFill>
                  <a:srgbClr val="3A3A3A"/>
                </a:solidFill>
                <a:latin typeface="Calibri"/>
              </a:rPr>
              <a:t>means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not its implementation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Everything free (complexity, security, dependencies, churn) is computed by code, not tokens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Result on a real sample: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244K raw tokens → 69K sent = 71.7% reduction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measured with the real Anthropic </a:t>
            </a:r>
            <a:r>
              <a:rPr sz="2400" b="0" i="0" dirty="0" err="1">
                <a:solidFill>
                  <a:srgbClr val="3A3A3A"/>
                </a:solidFill>
                <a:latin typeface="Calibri"/>
              </a:rPr>
              <a:t>tokenizer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, not a character-count guess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Three Synchronized Deliverables, Every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`report.html`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human dashboard: project overview, module directory, severity-ranked security alerts, churn-weighted hotspots, dependency fan-in ranking, live cost/ROI tiles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`</a:t>
            </a:r>
            <a:r>
              <a:rPr sz="2400" b="1" i="0" dirty="0" err="1">
                <a:solidFill>
                  <a:srgbClr val="3A3A3A"/>
                </a:solidFill>
                <a:latin typeface="Calibri"/>
              </a:rPr>
              <a:t>analysis.json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`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same data, machine-readable, ready to plug into workflows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`analysis.schema.json`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the formal JSON Schema — machine-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validatable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, not just machine-readable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3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B3A4A"/>
                </a:solidFill>
                <a:latin typeface="Calibri"/>
              </a:rPr>
              <a:t>Continuous Integration, Not a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4"/>
            <a:ext cx="11155680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Ships as a reusable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GitHub Action</a:t>
            </a:r>
            <a:r>
              <a:rPr sz="2400" b="0" i="0" dirty="0">
                <a:solidFill>
                  <a:srgbClr val="3A3A3A"/>
                </a:solidFill>
                <a:latin typeface="Calibri"/>
              </a:rPr>
              <a:t> — a ~6-line addition to any repo's CI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Runs automatically on every pull request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Cache persists across runs → </a:t>
            </a:r>
            <a:r>
              <a:rPr sz="2400" b="1" i="0" dirty="0">
                <a:solidFill>
                  <a:srgbClr val="3A3A3A"/>
                </a:solidFill>
                <a:latin typeface="Calibri"/>
              </a:rPr>
              <a:t>zero added cost for unchanged code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solidFill>
                  <a:srgbClr val="3A3A3A"/>
                </a:solidFill>
                <a:latin typeface="Calibri"/>
              </a:rPr>
              <a:t>•  The architectural map stays continuously refreshed, with zero manual re-runs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4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libri"/>
              </a:rPr>
              <a:t>What's Next: </a:t>
            </a:r>
            <a:r>
              <a:rPr lang="en-US" sz="4000" b="1" i="0" dirty="0" smtClean="0">
                <a:solidFill>
                  <a:srgbClr val="FFFFFF"/>
                </a:solidFill>
                <a:latin typeface="Calibri"/>
              </a:rPr>
              <a:t>DEMO</a:t>
            </a:r>
          </a:p>
          <a:p>
            <a:pPr algn="ctr"/>
            <a:r>
              <a:rPr sz="4000" b="1" i="0" dirty="0" smtClean="0">
                <a:solidFill>
                  <a:srgbClr val="FFFFFF"/>
                </a:solidFill>
                <a:latin typeface="Calibri"/>
              </a:rPr>
              <a:t>The 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"Brain" for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8E8"/>
                </a:solidFill>
                <a:latin typeface="Consolas"/>
              </a:rPr>
              <a:t>analysis.json</a:t>
            </a:r>
            <a:r>
              <a:rPr sz="2000" b="0" i="0">
                <a:solidFill>
                  <a:srgbClr val="E8E8E8"/>
                </a:solidFill>
                <a:latin typeface="Calibri"/>
              </a:rPr>
              <a:t> = a ready-made </a:t>
            </a:r>
            <a:r>
              <a:rPr sz="2000" b="1" i="0">
                <a:solidFill>
                  <a:srgbClr val="E8E8E8"/>
                </a:solidFill>
                <a:latin typeface="Calibri"/>
              </a:rPr>
              <a:t>map of the world</a:t>
            </a:r>
            <a:r>
              <a:rPr sz="2000" b="0" i="0">
                <a:solidFill>
                  <a:srgbClr val="E8E8E8"/>
                </a:solidFill>
                <a:latin typeface="Calibri"/>
              </a:rPr>
              <a:t> for any autonomous coding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19728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E8E8E8"/>
                </a:solidFill>
                <a:latin typeface="Calibri"/>
              </a:rPr>
              <a:t>IntelliSource AI</a:t>
            </a:r>
            <a:r>
              <a:rPr sz="2000" b="0" i="0" dirty="0">
                <a:solidFill>
                  <a:srgbClr val="E8E8E8"/>
                </a:solidFill>
                <a:latin typeface="Calibri"/>
              </a:rPr>
              <a:t> = the Brain (context &amp; knowledge layer, refreshed every 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5864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E8E8E8"/>
                </a:solidFill>
                <a:latin typeface="Calibri"/>
              </a:rPr>
              <a:t>Agents query the graph — controllers, services, endpoints, dependencies — and check blast radius </a:t>
            </a:r>
            <a:r>
              <a:rPr sz="2000" b="1" i="0" dirty="0">
                <a:solidFill>
                  <a:srgbClr val="E8E8E8"/>
                </a:solidFill>
                <a:latin typeface="Calibri"/>
              </a:rPr>
              <a:t>before</a:t>
            </a:r>
            <a:r>
              <a:rPr sz="2000" b="0" i="0" dirty="0">
                <a:solidFill>
                  <a:srgbClr val="E8E8E8"/>
                </a:solidFill>
                <a:latin typeface="Calibri"/>
              </a:rPr>
              <a:t> changing code, not after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42</TotalTime>
  <Words>724</Words>
  <Application>Microsoft Office PowerPoint</Application>
  <PresentationFormat>Custom</PresentationFormat>
  <Paragraphs>62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Metro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Raja Mohamed</cp:lastModifiedBy>
  <cp:revision>9</cp:revision>
  <dcterms:created xsi:type="dcterms:W3CDTF">2013-01-27T09:14:16Z</dcterms:created>
  <dcterms:modified xsi:type="dcterms:W3CDTF">2026-09-08T05:01:16Z</dcterms:modified>
  <cp:category/>
</cp:coreProperties>
</file>